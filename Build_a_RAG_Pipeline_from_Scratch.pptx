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14" autoAdjust="0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3251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50000">
                <a:srgbClr val="14B8A6"/>
              </a:gs>
              <a:gs pos="100000">
                <a:srgbClr val="0D9488"/>
              </a:gs>
            </a:gsLst>
            <a:lin ang="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239000" y="1524000"/>
            <a:ext cx="3810000" cy="3810000"/>
          </a:xfrm>
          <a:prstGeom prst="roundRect">
            <a:avLst>
              <a:gd name="adj" fmla="val 42667"/>
            </a:avLst>
          </a:prstGeom>
          <a:gradFill rotWithShape="1">
            <a:gsLst>
              <a:gs pos="0">
                <a:srgbClr val="0D9488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 rot="1800000">
            <a:off x="355600" y="5486400"/>
            <a:ext cx="355600" cy="355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D9488">
                  <a:alpha val="12000"/>
                </a:srgbClr>
              </a:gs>
              <a:gs pos="100000">
                <a:srgbClr val="0D9488">
                  <a:alpha val="3000"/>
                </a:srgbClr>
              </a:gs>
            </a:gsLst>
            <a:lin ang="3300000" scaled="0"/>
          </a:gradFill>
          <a:ln/>
          <a:effectLst>
            <a:outerShdw blurRad="152400" dist="50800" dir="5400000" algn="bl" rotWithShape="0">
              <a:srgbClr val="0D9488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 rot="1800000">
            <a:off x="508000" y="5638800"/>
            <a:ext cx="355600" cy="355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D9488">
                  <a:alpha val="7000"/>
                </a:srgbClr>
              </a:gs>
              <a:gs pos="100000">
                <a:srgbClr val="0D9488">
                  <a:alpha val="1000"/>
                </a:srgbClr>
              </a:gs>
            </a:gsLst>
            <a:lin ang="33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 rot="2400000">
            <a:off x="11582400" y="355600"/>
            <a:ext cx="254000" cy="2540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D9488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3300000" scaled="0"/>
          </a:gradFill>
          <a:ln/>
          <a:effectLst>
            <a:outerShdw blurRad="101600" dist="38100" dir="5400000" algn="bl" rotWithShape="0">
              <a:srgbClr val="0D9488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35000" y="562610"/>
            <a:ext cx="330200" cy="330200"/>
          </a:xfrm>
          <a:prstGeom prst="roundRect">
            <a:avLst>
              <a:gd name="adj" fmla="val 26923"/>
            </a:avLst>
          </a:prstGeom>
          <a:gradFill rotWithShape="1">
            <a:gsLst>
              <a:gs pos="0">
                <a:srgbClr val="0D9488"/>
              </a:gs>
              <a:gs pos="100000">
                <a:srgbClr val="0F766E"/>
              </a:gs>
            </a:gsLst>
            <a:lin ang="3300000" scaled="0"/>
          </a:gra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8660" y="621030"/>
            <a:ext cx="233680" cy="238760"/>
          </a:xfrm>
          <a:prstGeom prst="rect">
            <a:avLst/>
          </a:prstGeom>
          <a:noFill/>
          <a:ln/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6800" y="508000"/>
            <a:ext cx="12694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Agentic AI Series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6800" y="734060"/>
            <a:ext cx="12694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7030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ConsoleFlare</a:t>
            </a:r>
            <a:endParaRPr lang="en-US" sz="1600" b="1" dirty="0">
              <a:solidFill>
                <a:srgbClr val="7030A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35000" y="1150620"/>
            <a:ext cx="6409690" cy="1559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28"/>
              </a:lnSpc>
              <a:buNone/>
            </a:pPr>
            <a:r>
              <a:rPr lang="en-US" sz="38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Build a RAG</a:t>
            </a:r>
            <a:endParaRPr lang="en-US" sz="3800" dirty="0"/>
          </a:p>
          <a:p>
            <a:pPr marL="0" indent="0" algn="l">
              <a:lnSpc>
                <a:spcPts val="4028"/>
              </a:lnSpc>
              <a:buNone/>
            </a:pPr>
            <a:r>
              <a:rPr lang="en-US" sz="38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Pipeline from</a:t>
            </a:r>
            <a:endParaRPr lang="en-US" sz="3800" dirty="0"/>
          </a:p>
          <a:p>
            <a:pPr marL="0" indent="0" algn="l">
              <a:lnSpc>
                <a:spcPts val="4028"/>
              </a:lnSpc>
              <a:buNone/>
            </a:pPr>
            <a:r>
              <a:rPr lang="en-US" sz="38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Scratch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35000" y="2786698"/>
            <a:ext cx="640969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Enterprise Knowledge Assistant (</a:t>
            </a:r>
            <a:r>
              <a:rPr lang="en-US" sz="1600" b="1" dirty="0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Company Docs Chatbot </a:t>
            </a:r>
            <a:r>
              <a:rPr lang="en-US" sz="16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000" y="3274378"/>
            <a:ext cx="457200" cy="317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D9488"/>
              </a:gs>
              <a:gs pos="100000">
                <a:srgbClr val="14B8A6"/>
              </a:gs>
            </a:gsLst>
            <a:lin ang="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35000" y="3509328"/>
            <a:ext cx="640969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Learn to build a complete RAG pipeline - from loading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PDFs to generating AI-powered answers with citations.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One video. Every line of code explained.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5000" y="5588000"/>
            <a:ext cx="735806" cy="312420"/>
          </a:xfrm>
          <a:prstGeom prst="roundRect">
            <a:avLst>
              <a:gd name="adj" fmla="val 16260"/>
            </a:avLst>
          </a:prstGeom>
          <a:gradFill rotWithShape="1">
            <a:gsLst>
              <a:gs pos="0">
                <a:srgbClr val="0D9488"/>
              </a:gs>
              <a:gs pos="100000">
                <a:srgbClr val="0F766E"/>
              </a:gs>
            </a:gsLst>
            <a:lin ang="3300000" scaled="0"/>
          </a:gradFill>
          <a:ln/>
          <a:effectLst>
            <a:outerShdw blurRad="63500" dist="19050" dir="5400000" algn="bl" rotWithShape="0">
              <a:srgbClr val="0D9488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49300" y="5632450"/>
            <a:ext cx="558006" cy="24892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Python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437481" y="5591175"/>
            <a:ext cx="986711" cy="306070"/>
          </a:xfrm>
          <a:prstGeom prst="roundRect">
            <a:avLst>
              <a:gd name="adj" fmla="val 15560"/>
            </a:avLst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553686" y="5637530"/>
            <a:ext cx="805101" cy="23876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LangChain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94042" y="5591175"/>
            <a:ext cx="1009412" cy="306070"/>
          </a:xfrm>
          <a:prstGeom prst="roundRect">
            <a:avLst>
              <a:gd name="adj" fmla="val 15560"/>
            </a:avLst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2610247" y="5637530"/>
            <a:ext cx="827802" cy="23876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Pinecone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73304" y="5591175"/>
            <a:ext cx="770255" cy="306070"/>
          </a:xfrm>
          <a:prstGeom prst="roundRect">
            <a:avLst>
              <a:gd name="adj" fmla="val 15560"/>
            </a:avLst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689509" y="5637530"/>
            <a:ext cx="588645" cy="23876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NVIDIA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13409" y="5591175"/>
            <a:ext cx="582374" cy="306070"/>
          </a:xfrm>
          <a:prstGeom prst="roundRect">
            <a:avLst>
              <a:gd name="adj" fmla="val 15560"/>
            </a:avLst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529614" y="5637530"/>
            <a:ext cx="400764" cy="23876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b="1" dirty="0" err="1">
                <a:solidFill>
                  <a:srgbClr val="0D9488"/>
                </a:solidFill>
                <a:latin typeface="Nunito Sans" pitchFamily="34" charset="0"/>
              </a:rPr>
              <a:t>Groq</a:t>
            </a:r>
            <a:endParaRPr lang="en-US" sz="1200" b="1" dirty="0">
              <a:solidFill>
                <a:srgbClr val="0D9488"/>
              </a:solidFill>
              <a:latin typeface="Nunito Sans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65633" y="5591175"/>
            <a:ext cx="890508" cy="306070"/>
          </a:xfrm>
          <a:prstGeom prst="roundRect">
            <a:avLst>
              <a:gd name="adj" fmla="val 15560"/>
            </a:avLst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181838" y="5637530"/>
            <a:ext cx="708898" cy="23876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000" y="6002020"/>
            <a:ext cx="83185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800" b="1" kern="0" spc="-50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console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466850" y="6055360"/>
            <a:ext cx="6350" cy="3048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524000" y="6109970"/>
            <a:ext cx="231272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Learn AI . Build Projects . Get Hired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69175" y="1386840"/>
            <a:ext cx="4191000" cy="830580"/>
          </a:xfrm>
          <a:prstGeom prst="roundRect">
            <a:avLst>
              <a:gd name="adj" fmla="val 12232"/>
            </a:avLst>
          </a:pr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25400" dist="6350" dir="5400000" algn="bl" rotWithShape="0">
              <a:srgbClr val="000000">
                <a:alpha val="4000"/>
              </a:srgbClr>
            </a:outerShdw>
          </a:effectLst>
          <a:scene3d>
            <a:camera prst="obliqueTopLeft"/>
            <a:lightRig rig="threePt" dir="t"/>
          </a:scene3d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7366000" y="1390015"/>
            <a:ext cx="4191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11553825" y="1386840"/>
            <a:ext cx="0" cy="8305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7369175" y="1386840"/>
            <a:ext cx="0" cy="8305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7574280" y="1569720"/>
            <a:ext cx="304800" cy="304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0FDFA"/>
              </a:gs>
              <a:gs pos="100000">
                <a:srgbClr val="CCFBF1"/>
              </a:gs>
            </a:gsLst>
            <a:lin ang="3300000" scaled="0"/>
          </a:gradFill>
          <a:ln/>
          <a:effectLst>
            <a:outerShdw blurRad="63500" dist="19050" dir="5400000" algn="bl" rotWithShape="0">
              <a:srgbClr val="0D9488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5" name="Image 0" descr="Databa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37780" y="1633220"/>
            <a:ext cx="177800" cy="1778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7980680" y="1569720"/>
            <a:ext cx="229326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Step 1 - Load + Chunk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7980680" y="1826260"/>
            <a:ext cx="22932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PDF documents into text chunks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366000" y="2217420"/>
            <a:ext cx="4191000" cy="830580"/>
          </a:xfrm>
          <a:prstGeom prst="rect">
            <a:avLst/>
          </a:pr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25400" dist="6350" dir="5400000" algn="bl" rotWithShape="0">
              <a:srgbClr val="000000">
                <a:alpha val="4000"/>
              </a:srgbClr>
            </a:outerShdw>
          </a:effectLst>
          <a:scene3d>
            <a:camera prst="obliqueTopLeft"/>
            <a:lightRig rig="threePt" dir="t"/>
          </a:scene3d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7366000" y="2220595"/>
            <a:ext cx="4191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7"/>
          <p:cNvSpPr/>
          <p:nvPr/>
        </p:nvSpPr>
        <p:spPr>
          <a:xfrm>
            <a:off x="11553825" y="2217420"/>
            <a:ext cx="0" cy="8305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8"/>
          <p:cNvSpPr/>
          <p:nvPr/>
        </p:nvSpPr>
        <p:spPr>
          <a:xfrm>
            <a:off x="7369175" y="2217420"/>
            <a:ext cx="0" cy="8305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39"/>
          <p:cNvSpPr/>
          <p:nvPr/>
        </p:nvSpPr>
        <p:spPr>
          <a:xfrm>
            <a:off x="7574280" y="2400300"/>
            <a:ext cx="304800" cy="304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0FDFA"/>
              </a:gs>
              <a:gs pos="100000">
                <a:srgbClr val="CCFBF1"/>
              </a:gs>
            </a:gsLst>
            <a:lin ang="3300000" scaled="0"/>
          </a:gradFill>
          <a:ln/>
          <a:effectLst>
            <a:outerShdw blurRad="63500" dist="19050" dir="5400000" algn="bl" rotWithShape="0">
              <a:srgbClr val="0D9488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3" name="Image 1" descr="Light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37780" y="2463800"/>
            <a:ext cx="177800" cy="177800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7980680" y="2400300"/>
            <a:ext cx="219294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Step 2 - Embed</a:t>
            </a:r>
            <a:endParaRPr lang="en-US" sz="1300" dirty="0"/>
          </a:p>
        </p:txBody>
      </p:sp>
      <p:sp>
        <p:nvSpPr>
          <p:cNvPr id="45" name="Text 41"/>
          <p:cNvSpPr/>
          <p:nvPr/>
        </p:nvSpPr>
        <p:spPr>
          <a:xfrm>
            <a:off x="7980680" y="2656840"/>
            <a:ext cx="21929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NVIDIA embeddings to vectors</a:t>
            </a:r>
            <a:endParaRPr lang="en-US" sz="1200" dirty="0"/>
          </a:p>
        </p:txBody>
      </p:sp>
      <p:sp>
        <p:nvSpPr>
          <p:cNvPr id="46" name="Shape 42"/>
          <p:cNvSpPr/>
          <p:nvPr/>
        </p:nvSpPr>
        <p:spPr>
          <a:xfrm>
            <a:off x="7358783" y="3072130"/>
            <a:ext cx="4191000" cy="830580"/>
          </a:xfrm>
          <a:prstGeom prst="rect">
            <a:avLst/>
          </a:pr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25400" dist="6350" dir="5400000" algn="bl" rotWithShape="0">
              <a:srgbClr val="000000">
                <a:alpha val="4000"/>
              </a:srgbClr>
            </a:outerShdw>
          </a:effectLst>
          <a:scene3d>
            <a:camera prst="obliqueTopLeft"/>
            <a:lightRig rig="threePt" dir="t"/>
          </a:scene3d>
        </p:spPr>
        <p:txBody>
          <a:bodyPr/>
          <a:lstStyle/>
          <a:p>
            <a:endParaRPr/>
          </a:p>
        </p:txBody>
      </p:sp>
      <p:sp>
        <p:nvSpPr>
          <p:cNvPr id="47" name="Shape 43"/>
          <p:cNvSpPr/>
          <p:nvPr/>
        </p:nvSpPr>
        <p:spPr>
          <a:xfrm>
            <a:off x="7366000" y="3051175"/>
            <a:ext cx="4191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4"/>
          <p:cNvSpPr/>
          <p:nvPr/>
        </p:nvSpPr>
        <p:spPr>
          <a:xfrm>
            <a:off x="11553825" y="3048000"/>
            <a:ext cx="0" cy="8305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5"/>
          <p:cNvSpPr/>
          <p:nvPr/>
        </p:nvSpPr>
        <p:spPr>
          <a:xfrm>
            <a:off x="7369175" y="3048000"/>
            <a:ext cx="0" cy="8305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6"/>
          <p:cNvSpPr/>
          <p:nvPr/>
        </p:nvSpPr>
        <p:spPr>
          <a:xfrm>
            <a:off x="7574280" y="3230880"/>
            <a:ext cx="304800" cy="304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0FDFA"/>
              </a:gs>
              <a:gs pos="100000">
                <a:srgbClr val="CCFBF1"/>
              </a:gs>
            </a:gsLst>
            <a:lin ang="3300000" scaled="0"/>
          </a:gradFill>
          <a:ln/>
          <a:effectLst>
            <a:outerShdw blurRad="63500" dist="19050" dir="5400000" algn="bl" rotWithShape="0">
              <a:srgbClr val="0D9488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1" name="Image 2" descr="Cloud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37780" y="3294380"/>
            <a:ext cx="177800" cy="177800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7980680" y="3230880"/>
            <a:ext cx="202542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Step 3 - Store</a:t>
            </a:r>
            <a:endParaRPr lang="en-US" sz="1300" dirty="0"/>
          </a:p>
        </p:txBody>
      </p:sp>
      <p:sp>
        <p:nvSpPr>
          <p:cNvPr id="53" name="Text 48"/>
          <p:cNvSpPr/>
          <p:nvPr/>
        </p:nvSpPr>
        <p:spPr>
          <a:xfrm>
            <a:off x="7980680" y="3487420"/>
            <a:ext cx="20254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Store vectors in Pinecone</a:t>
            </a:r>
            <a:endParaRPr lang="en-US" sz="1200" dirty="0"/>
          </a:p>
        </p:txBody>
      </p:sp>
      <p:sp>
        <p:nvSpPr>
          <p:cNvPr id="54" name="Shape 49"/>
          <p:cNvSpPr/>
          <p:nvPr/>
        </p:nvSpPr>
        <p:spPr>
          <a:xfrm>
            <a:off x="7366000" y="3878580"/>
            <a:ext cx="4191000" cy="830580"/>
          </a:xfrm>
          <a:prstGeom prst="rect">
            <a:avLst/>
          </a:pr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25400" dist="6350" dir="5400000" algn="bl" rotWithShape="0">
              <a:srgbClr val="000000">
                <a:alpha val="4000"/>
              </a:srgbClr>
            </a:outerShdw>
          </a:effectLst>
          <a:scene3d>
            <a:camera prst="obliqueTopLeft"/>
            <a:lightRig rig="threePt" dir="t"/>
          </a:scene3d>
        </p:spPr>
        <p:txBody>
          <a:bodyPr/>
          <a:lstStyle/>
          <a:p>
            <a:endParaRPr/>
          </a:p>
        </p:txBody>
      </p:sp>
      <p:sp>
        <p:nvSpPr>
          <p:cNvPr id="55" name="Shape 50"/>
          <p:cNvSpPr/>
          <p:nvPr/>
        </p:nvSpPr>
        <p:spPr>
          <a:xfrm>
            <a:off x="7366000" y="3881755"/>
            <a:ext cx="4191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1"/>
          <p:cNvSpPr/>
          <p:nvPr/>
        </p:nvSpPr>
        <p:spPr>
          <a:xfrm>
            <a:off x="11553825" y="3878580"/>
            <a:ext cx="0" cy="8305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2"/>
          <p:cNvSpPr/>
          <p:nvPr/>
        </p:nvSpPr>
        <p:spPr>
          <a:xfrm>
            <a:off x="7369175" y="3878580"/>
            <a:ext cx="0" cy="8305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3"/>
          <p:cNvSpPr/>
          <p:nvPr/>
        </p:nvSpPr>
        <p:spPr>
          <a:xfrm>
            <a:off x="7574280" y="4061460"/>
            <a:ext cx="304800" cy="304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0FDFA"/>
              </a:gs>
              <a:gs pos="100000">
                <a:srgbClr val="CCFBF1"/>
              </a:gs>
            </a:gsLst>
            <a:lin ang="3300000" scaled="0"/>
          </a:gradFill>
          <a:ln/>
          <a:effectLst>
            <a:outerShdw blurRad="63500" dist="19050" dir="5400000" algn="bl" rotWithShape="0">
              <a:srgbClr val="0D9488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9" name="Image 3" descr="Search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37780" y="4124960"/>
            <a:ext cx="177800" cy="177800"/>
          </a:xfrm>
          <a:prstGeom prst="rect">
            <a:avLst/>
          </a:prstGeom>
        </p:spPr>
      </p:pic>
      <p:sp>
        <p:nvSpPr>
          <p:cNvPr id="60" name="Text 54"/>
          <p:cNvSpPr/>
          <p:nvPr/>
        </p:nvSpPr>
        <p:spPr>
          <a:xfrm>
            <a:off x="7980680" y="4061460"/>
            <a:ext cx="197874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Step 4 - Retrieve</a:t>
            </a:r>
            <a:endParaRPr lang="en-US" sz="1300" dirty="0"/>
          </a:p>
        </p:txBody>
      </p:sp>
      <p:sp>
        <p:nvSpPr>
          <p:cNvPr id="61" name="Text 55"/>
          <p:cNvSpPr/>
          <p:nvPr/>
        </p:nvSpPr>
        <p:spPr>
          <a:xfrm>
            <a:off x="7980680" y="4318000"/>
            <a:ext cx="19787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Similarity search for context</a:t>
            </a:r>
            <a:endParaRPr lang="en-US" sz="1200" dirty="0"/>
          </a:p>
        </p:txBody>
      </p:sp>
      <p:sp>
        <p:nvSpPr>
          <p:cNvPr id="62" name="Shape 56"/>
          <p:cNvSpPr/>
          <p:nvPr/>
        </p:nvSpPr>
        <p:spPr>
          <a:xfrm>
            <a:off x="7366000" y="4709160"/>
            <a:ext cx="4191000" cy="825500"/>
          </a:xfrm>
          <a:prstGeom prst="roundRect">
            <a:avLst>
              <a:gd name="adj" fmla="val 12308"/>
            </a:avLst>
          </a:prstGeom>
          <a:gradFill rotWithShape="1">
            <a:gsLst>
              <a:gs pos="0">
                <a:srgbClr val="0D9488"/>
              </a:gs>
              <a:gs pos="100000">
                <a:srgbClr val="0F766E"/>
              </a:gs>
            </a:gsLst>
            <a:lin ang="3300000" scaled="0"/>
          </a:gradFill>
          <a:ln/>
          <a:effectLst>
            <a:outerShdw blurRad="203200" dist="50800" dir="5400000" algn="bl" rotWithShape="0">
              <a:srgbClr val="0D9488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3" name="Shape 57"/>
          <p:cNvSpPr/>
          <p:nvPr/>
        </p:nvSpPr>
        <p:spPr>
          <a:xfrm>
            <a:off x="7569200" y="488696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4" name="Image 4" descr="Chat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32700" y="4950460"/>
            <a:ext cx="177800" cy="177800"/>
          </a:xfrm>
          <a:prstGeom prst="rect">
            <a:avLst/>
          </a:prstGeom>
        </p:spPr>
      </p:pic>
      <p:sp>
        <p:nvSpPr>
          <p:cNvPr id="65" name="Text 58"/>
          <p:cNvSpPr/>
          <p:nvPr/>
        </p:nvSpPr>
        <p:spPr>
          <a:xfrm>
            <a:off x="7975600" y="4886960"/>
            <a:ext cx="215476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Step 5 - Generate Answer</a:t>
            </a:r>
            <a:endParaRPr lang="en-US" sz="1300" dirty="0"/>
          </a:p>
        </p:txBody>
      </p:sp>
      <p:sp>
        <p:nvSpPr>
          <p:cNvPr id="66" name="Text 59"/>
          <p:cNvSpPr/>
          <p:nvPr/>
        </p:nvSpPr>
        <p:spPr>
          <a:xfrm>
            <a:off x="7975600" y="5143500"/>
            <a:ext cx="21547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CFBF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RAG chain with Groq LLM</a:t>
            </a:r>
            <a:endParaRPr lang="en-US" sz="1200" dirty="0"/>
          </a:p>
        </p:txBody>
      </p:sp>
      <p:sp>
        <p:nvSpPr>
          <p:cNvPr id="67" name="Text 60"/>
          <p:cNvSpPr/>
          <p:nvPr/>
        </p:nvSpPr>
        <p:spPr>
          <a:xfrm>
            <a:off x="1158399" y="6353651"/>
            <a:ext cx="83185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800" b="1" kern="0" spc="-50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flare.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50000">
                <a:srgbClr val="14B8A6"/>
              </a:gs>
              <a:gs pos="100000">
                <a:srgbClr val="0D9488"/>
              </a:gs>
            </a:gsLst>
            <a:lin ang="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35000" y="635000"/>
            <a:ext cx="112496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5000" y="924560"/>
            <a:ext cx="1124966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Why do we need </a:t>
            </a:r>
            <a:r>
              <a:rPr lang="en-US" sz="32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RAG</a:t>
            </a:r>
            <a:r>
              <a:rPr lang="en-US" sz="32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38175" y="1679575"/>
            <a:ext cx="5322570" cy="2117090"/>
          </a:xfrm>
          <a:prstGeom prst="roundRect">
            <a:avLst>
              <a:gd name="adj" fmla="val 464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94080" y="1935480"/>
            <a:ext cx="304800" cy="304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EE2E2"/>
              </a:gs>
              <a:gs pos="100000">
                <a:srgbClr val="FECACA"/>
              </a:gs>
            </a:gsLst>
            <a:lin ang="3300000" scaled="0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7580" y="1998980"/>
            <a:ext cx="177800" cy="177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5080" y="1945640"/>
            <a:ext cx="15605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LLM Limitations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4080" y="2392680"/>
            <a:ext cx="4955083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Knowledge cutoff - no recent data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Can't access your private documents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Hallucinations - makes up answers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 source citations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24270" y="1682750"/>
            <a:ext cx="5326380" cy="2110740"/>
          </a:xfrm>
          <a:prstGeom prst="roundRect">
            <a:avLst>
              <a:gd name="adj" fmla="val 451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6482080" y="1940560"/>
            <a:ext cx="304800" cy="304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0FDFA"/>
              </a:gs>
              <a:gs pos="100000">
                <a:srgbClr val="CCFBF1"/>
              </a:gs>
            </a:gsLst>
            <a:lin ang="3300000" scaled="0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Verified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45580" y="2004060"/>
            <a:ext cx="177800" cy="177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63080" y="1950720"/>
            <a:ext cx="133365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RAG Solution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82080" y="2397760"/>
            <a:ext cx="4955083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Connect LLM to your own data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Real-time document retrieval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Grounded, accurate answers</a:t>
            </a:r>
            <a:endParaRPr lang="en-US" sz="1400" dirty="0"/>
          </a:p>
          <a:p>
            <a:pPr marL="342900" indent="-342900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With source citations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35000" y="4104640"/>
            <a:ext cx="10922000" cy="604520"/>
          </a:xfrm>
          <a:prstGeom prst="roundRect">
            <a:avLst>
              <a:gd name="adj" fmla="val 12605"/>
            </a:avLst>
          </a:prstGeom>
          <a:gradFill rotWithShape="1">
            <a:gsLst>
              <a:gs pos="0">
                <a:srgbClr val="0D9488"/>
              </a:gs>
              <a:gs pos="100000">
                <a:srgbClr val="0F766E"/>
              </a:gs>
            </a:gsLst>
            <a:lin ang="3300000" scaled="0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Lightbulb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9000" y="4305300"/>
            <a:ext cx="203200" cy="203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93800" y="4282440"/>
            <a:ext cx="74323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RAG = Retrieval-Augmented Generation - LLM + Your Documents = Accurate Answers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5000" y="6294120"/>
            <a:ext cx="589121" cy="154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200" b="1" kern="0" spc="-25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console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35000" y="6423661"/>
            <a:ext cx="589121" cy="154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200" b="1" kern="0" spc="-25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flare.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224121" y="6322061"/>
            <a:ext cx="6350" cy="2032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6"/>
          <p:cNvSpPr/>
          <p:nvPr/>
        </p:nvSpPr>
        <p:spPr>
          <a:xfrm>
            <a:off x="1281271" y="6316980"/>
            <a:ext cx="22370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Module 15 - Agentic AI Series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343640" y="6278880"/>
            <a:ext cx="26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50000">
                <a:srgbClr val="14B8A6"/>
              </a:gs>
              <a:gs pos="100000">
                <a:srgbClr val="0D9488"/>
              </a:gs>
            </a:gsLst>
            <a:lin ang="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35000" y="635000"/>
            <a:ext cx="112496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5000" y="924561"/>
            <a:ext cx="1124966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RAG Pipeline </a:t>
            </a:r>
            <a:r>
              <a:rPr lang="en-US" sz="32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Overview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35000" y="1625600"/>
            <a:ext cx="112496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INGESTION PIPELINE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8175" y="1943736"/>
            <a:ext cx="2495550" cy="1134110"/>
          </a:xfrm>
          <a:prstGeom prst="roundRect">
            <a:avLst>
              <a:gd name="adj" fmla="val 8679"/>
            </a:avLst>
          </a:prstGeom>
          <a:solidFill>
            <a:srgbClr val="FFFFFF"/>
          </a:solidFill>
          <a:ln w="6350">
            <a:solidFill>
              <a:schemeClr val="tx1"/>
            </a:solidFill>
            <a:prstDash val="solid"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endParaRPr/>
          </a:p>
        </p:txBody>
      </p:sp>
      <p:pic>
        <p:nvPicPr>
          <p:cNvPr id="7" name="Image 0" descr="Boo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71650" y="2123441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5873" y="2402841"/>
            <a:ext cx="129087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PDF Documents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87170" y="2684780"/>
            <a:ext cx="8483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Source files</a:t>
            </a:r>
            <a:endParaRPr lang="en-US" sz="1200" dirty="0"/>
          </a:p>
        </p:txBody>
      </p:sp>
      <p:pic>
        <p:nvPicPr>
          <p:cNvPr id="10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36900" y="2421891"/>
            <a:ext cx="304800" cy="1778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44875" y="1943736"/>
            <a:ext cx="2495550" cy="1134110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prstDash val="solid"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endParaRPr/>
          </a:p>
        </p:txBody>
      </p:sp>
      <p:pic>
        <p:nvPicPr>
          <p:cNvPr id="12" name="Image 2" descr="Cod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8350" y="2123441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165600" y="2402841"/>
            <a:ext cx="110482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Load + Chunk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219258" y="2684780"/>
            <a:ext cx="9975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PyPDFLoader</a:t>
            </a:r>
            <a:endParaRPr lang="en-US" sz="1200" dirty="0"/>
          </a:p>
        </p:txBody>
      </p:sp>
      <p:pic>
        <p:nvPicPr>
          <p:cNvPr id="15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43600" y="2421891"/>
            <a:ext cx="304800" cy="1778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51575" y="1943736"/>
            <a:ext cx="2495550" cy="1134110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prstDash val="solid"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endParaRPr/>
          </a:p>
        </p:txBody>
      </p:sp>
      <p:pic>
        <p:nvPicPr>
          <p:cNvPr id="17" name="Image 4" descr="Lightni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85050" y="2123441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233841" y="2402841"/>
            <a:ext cx="58181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Embed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7093109" y="2684780"/>
            <a:ext cx="8632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NVIDIA API</a:t>
            </a:r>
            <a:endParaRPr lang="en-US" sz="1200" dirty="0"/>
          </a:p>
        </p:txBody>
      </p:sp>
      <p:pic>
        <p:nvPicPr>
          <p:cNvPr id="20" name="Image 5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50300" y="2421891"/>
            <a:ext cx="304800" cy="17780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9058275" y="1943736"/>
            <a:ext cx="2495550" cy="1134110"/>
          </a:xfrm>
          <a:prstGeom prst="roundRect">
            <a:avLst>
              <a:gd name="adj" fmla="val 8679"/>
            </a:avLst>
          </a:prstGeom>
          <a:solidFill>
            <a:srgbClr val="FFFFFF"/>
          </a:solidFill>
          <a:ln w="6350">
            <a:solidFill>
              <a:schemeClr val="tx1"/>
            </a:solidFill>
            <a:prstDash val="solid"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endParaRPr/>
          </a:p>
        </p:txBody>
      </p:sp>
      <p:pic>
        <p:nvPicPr>
          <p:cNvPr id="22" name="Image 6" descr="Database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191750" y="2123441"/>
            <a:ext cx="228600" cy="2286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0099040" y="2402841"/>
            <a:ext cx="46474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Store</a:t>
            </a:r>
            <a:endParaRPr lang="en-US" sz="1300" dirty="0"/>
          </a:p>
        </p:txBody>
      </p:sp>
      <p:sp>
        <p:nvSpPr>
          <p:cNvPr id="24" name="Text 15"/>
          <p:cNvSpPr/>
          <p:nvPr/>
        </p:nvSpPr>
        <p:spPr>
          <a:xfrm>
            <a:off x="9926241" y="2684780"/>
            <a:ext cx="8104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Pinecone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635000" y="3335020"/>
            <a:ext cx="112496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QUERY PIPELINE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638175" y="3653155"/>
            <a:ext cx="2498090" cy="1134110"/>
          </a:xfrm>
          <a:prstGeom prst="roundRect">
            <a:avLst>
              <a:gd name="adj" fmla="val 8679"/>
            </a:avLst>
          </a:prstGeom>
          <a:solidFill>
            <a:srgbClr val="FFFFFF"/>
          </a:solidFill>
          <a:ln w="6350">
            <a:solidFill>
              <a:schemeClr val="tx1"/>
            </a:solidFill>
            <a:prstDash val="solid"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endParaRPr/>
          </a:p>
        </p:txBody>
      </p:sp>
      <p:pic>
        <p:nvPicPr>
          <p:cNvPr id="27" name="Image 7" descr="Users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772920" y="3832861"/>
            <a:ext cx="228600" cy="2286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450975" y="4112261"/>
            <a:ext cx="92321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User Query</a:t>
            </a:r>
            <a:endParaRPr lang="en-US" sz="1300" dirty="0"/>
          </a:p>
        </p:txBody>
      </p:sp>
      <p:sp>
        <p:nvSpPr>
          <p:cNvPr id="29" name="Text 19"/>
          <p:cNvSpPr/>
          <p:nvPr/>
        </p:nvSpPr>
        <p:spPr>
          <a:xfrm>
            <a:off x="1576705" y="4394200"/>
            <a:ext cx="6718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Question</a:t>
            </a:r>
            <a:endParaRPr lang="en-US" sz="1200" dirty="0"/>
          </a:p>
        </p:txBody>
      </p:sp>
      <p:pic>
        <p:nvPicPr>
          <p:cNvPr id="30" name="Image 8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39440" y="4131311"/>
            <a:ext cx="304800" cy="177800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3447415" y="3653155"/>
            <a:ext cx="2498090" cy="1134110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prstDash val="solid"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endParaRPr/>
          </a:p>
        </p:txBody>
      </p:sp>
      <p:pic>
        <p:nvPicPr>
          <p:cNvPr id="32" name="Image 9" descr="Search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582160" y="3832861"/>
            <a:ext cx="228600" cy="22860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4379675" y="4112261"/>
            <a:ext cx="6842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Retrieve</a:t>
            </a:r>
            <a:endParaRPr lang="en-US" sz="1300" dirty="0"/>
          </a:p>
        </p:txBody>
      </p:sp>
      <p:sp>
        <p:nvSpPr>
          <p:cNvPr id="34" name="Text 22"/>
          <p:cNvSpPr/>
          <p:nvPr/>
        </p:nvSpPr>
        <p:spPr>
          <a:xfrm>
            <a:off x="4210367" y="4394200"/>
            <a:ext cx="10229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Top-K Chunks</a:t>
            </a:r>
            <a:endParaRPr lang="en-US" sz="1200" dirty="0"/>
          </a:p>
        </p:txBody>
      </p:sp>
      <p:pic>
        <p:nvPicPr>
          <p:cNvPr id="35" name="Image 10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48680" y="4131311"/>
            <a:ext cx="304800" cy="177800"/>
          </a:xfrm>
          <a:prstGeom prst="rect">
            <a:avLst/>
          </a:prstGeom>
        </p:spPr>
      </p:pic>
      <p:sp>
        <p:nvSpPr>
          <p:cNvPr id="36" name="Shape 23"/>
          <p:cNvSpPr/>
          <p:nvPr/>
        </p:nvSpPr>
        <p:spPr>
          <a:xfrm>
            <a:off x="6256655" y="3653155"/>
            <a:ext cx="2498090" cy="1134110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prstDash val="solid"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endParaRPr/>
          </a:p>
        </p:txBody>
      </p:sp>
      <p:pic>
        <p:nvPicPr>
          <p:cNvPr id="37" name="Image 11" descr="Tool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391400" y="3832861"/>
            <a:ext cx="228600" cy="228600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7088029" y="4112261"/>
            <a:ext cx="88606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RAG Chain</a:t>
            </a:r>
            <a:endParaRPr lang="en-US" sz="1300" dirty="0"/>
          </a:p>
        </p:txBody>
      </p:sp>
      <p:sp>
        <p:nvSpPr>
          <p:cNvPr id="39" name="Text 25"/>
          <p:cNvSpPr/>
          <p:nvPr/>
        </p:nvSpPr>
        <p:spPr>
          <a:xfrm>
            <a:off x="6895386" y="4394200"/>
            <a:ext cx="12713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Context + Prompt</a:t>
            </a:r>
            <a:endParaRPr lang="en-US" sz="1200" dirty="0"/>
          </a:p>
        </p:txBody>
      </p:sp>
      <p:pic>
        <p:nvPicPr>
          <p:cNvPr id="40" name="Image 12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57920" y="4131311"/>
            <a:ext cx="304800" cy="177800"/>
          </a:xfrm>
          <a:prstGeom prst="rect">
            <a:avLst/>
          </a:prstGeom>
        </p:spPr>
      </p:pic>
      <p:sp>
        <p:nvSpPr>
          <p:cNvPr id="41" name="Shape 26"/>
          <p:cNvSpPr/>
          <p:nvPr/>
        </p:nvSpPr>
        <p:spPr>
          <a:xfrm>
            <a:off x="9062720" y="3655061"/>
            <a:ext cx="2494280" cy="1130300"/>
          </a:xfrm>
          <a:prstGeom prst="roundRect">
            <a:avLst>
              <a:gd name="adj" fmla="val 8989"/>
            </a:avLst>
          </a:prstGeom>
          <a:gradFill rotWithShape="1">
            <a:gsLst>
              <a:gs pos="0">
                <a:srgbClr val="0D9488"/>
              </a:gs>
              <a:gs pos="100000">
                <a:srgbClr val="0F766E"/>
              </a:gs>
            </a:gsLst>
            <a:lin ang="3300000" scaled="0"/>
          </a:gra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/>
          <a:lstStyle/>
          <a:p>
            <a:endParaRPr/>
          </a:p>
        </p:txBody>
      </p:sp>
      <p:pic>
        <p:nvPicPr>
          <p:cNvPr id="42" name="Image 13" descr="Chat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195560" y="3832861"/>
            <a:ext cx="228600" cy="228600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10013950" y="4112261"/>
            <a:ext cx="64254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Answer</a:t>
            </a:r>
            <a:endParaRPr lang="en-US" sz="1300" dirty="0"/>
          </a:p>
        </p:txBody>
      </p:sp>
      <p:sp>
        <p:nvSpPr>
          <p:cNvPr id="44" name="Text 28"/>
          <p:cNvSpPr/>
          <p:nvPr/>
        </p:nvSpPr>
        <p:spPr>
          <a:xfrm>
            <a:off x="9968389" y="4394200"/>
            <a:ext cx="7337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CFBF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Groq LLM</a:t>
            </a:r>
            <a:endParaRPr lang="en-US" sz="1200" dirty="0"/>
          </a:p>
        </p:txBody>
      </p:sp>
      <p:sp>
        <p:nvSpPr>
          <p:cNvPr id="45" name="Text 29"/>
          <p:cNvSpPr/>
          <p:nvPr/>
        </p:nvSpPr>
        <p:spPr>
          <a:xfrm>
            <a:off x="635000" y="6294120"/>
            <a:ext cx="589121" cy="154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200" b="1" kern="0" spc="-25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console</a:t>
            </a:r>
            <a:endParaRPr lang="en-US" sz="1200" dirty="0"/>
          </a:p>
        </p:txBody>
      </p:sp>
      <p:sp>
        <p:nvSpPr>
          <p:cNvPr id="46" name="Text 30"/>
          <p:cNvSpPr/>
          <p:nvPr/>
        </p:nvSpPr>
        <p:spPr>
          <a:xfrm>
            <a:off x="635000" y="6423661"/>
            <a:ext cx="589121" cy="154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200" b="1" kern="0" spc="-25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flare.</a:t>
            </a:r>
            <a:endParaRPr lang="en-US" sz="1200" dirty="0"/>
          </a:p>
        </p:txBody>
      </p:sp>
      <p:sp>
        <p:nvSpPr>
          <p:cNvPr id="47" name="Shape 31"/>
          <p:cNvSpPr/>
          <p:nvPr/>
        </p:nvSpPr>
        <p:spPr>
          <a:xfrm>
            <a:off x="1224121" y="6322061"/>
            <a:ext cx="6350" cy="2032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32"/>
          <p:cNvSpPr/>
          <p:nvPr/>
        </p:nvSpPr>
        <p:spPr>
          <a:xfrm>
            <a:off x="1281271" y="6316980"/>
            <a:ext cx="22370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Module 15 - Agentic AI Series</a:t>
            </a:r>
            <a:endParaRPr lang="en-US" sz="1200" dirty="0"/>
          </a:p>
        </p:txBody>
      </p:sp>
      <p:sp>
        <p:nvSpPr>
          <p:cNvPr id="49" name="Text 33"/>
          <p:cNvSpPr/>
          <p:nvPr/>
        </p:nvSpPr>
        <p:spPr>
          <a:xfrm>
            <a:off x="11343640" y="6278880"/>
            <a:ext cx="26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50000">
                <a:srgbClr val="14B8A6"/>
              </a:gs>
              <a:gs pos="100000">
                <a:srgbClr val="0D9488"/>
              </a:gs>
            </a:gsLst>
            <a:lin ang="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35000" y="635000"/>
            <a:ext cx="112496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5000" y="924561"/>
            <a:ext cx="1124966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Project </a:t>
            </a:r>
            <a:r>
              <a:rPr lang="en-US" sz="32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Setup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38175" y="1628775"/>
            <a:ext cx="5124450" cy="1602740"/>
          </a:xfrm>
          <a:prstGeom prst="roundRect">
            <a:avLst>
              <a:gd name="adj" fmla="val 6141"/>
            </a:avLst>
          </a:prstGeom>
          <a:solidFill>
            <a:srgbClr val="FFFFFF"/>
          </a:solidFill>
          <a:ln w="6350">
            <a:solidFill>
              <a:schemeClr val="accent5">
                <a:lumMod val="7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Setting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3280" y="1856741"/>
            <a:ext cx="203200" cy="20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2680" y="1833880"/>
            <a:ext cx="1197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3280" y="2184400"/>
            <a:ext cx="4855667" cy="867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Python 3.10+</a:t>
            </a:r>
            <a:endParaRPr lang="en-US" sz="1300" dirty="0"/>
          </a:p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VS Code / PyCharm</a:t>
            </a:r>
            <a:endParaRPr lang="en-US" sz="1300" dirty="0"/>
          </a:p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pip package manager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8175" y="3364865"/>
            <a:ext cx="5124450" cy="1864359"/>
          </a:xfrm>
          <a:prstGeom prst="roundRect">
            <a:avLst>
              <a:gd name="adj" fmla="val 7445"/>
            </a:avLst>
          </a:prstGeom>
          <a:solidFill>
            <a:srgbClr val="FFFFFF"/>
          </a:solidFill>
          <a:ln w="6350">
            <a:solidFill>
              <a:schemeClr val="accent5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pic>
        <p:nvPicPr>
          <p:cNvPr id="10" name="Image 1" descr="Key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80" y="3592830"/>
            <a:ext cx="203200" cy="203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22680" y="3569970"/>
            <a:ext cx="1318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API Keys (Free Tier)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43280" y="3920491"/>
            <a:ext cx="4855667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NVIDIA - build.nvidia.com</a:t>
            </a:r>
            <a:endParaRPr lang="en-US" sz="1200" dirty="0"/>
          </a:p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200" dirty="0" err="1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Groq</a:t>
            </a:r>
            <a:r>
              <a:rPr lang="en-US" sz="12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- console.groq.com</a:t>
            </a:r>
            <a:endParaRPr lang="en-US" sz="1200" dirty="0"/>
          </a:p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Pinecone - pinecone.io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978331" y="1634931"/>
            <a:ext cx="5588000" cy="3362960"/>
          </a:xfrm>
          <a:prstGeom prst="roundRect">
            <a:avLst>
              <a:gd name="adj" fmla="val 3021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" name="Image 2" descr="Cod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97600" y="1877061"/>
            <a:ext cx="203200" cy="203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77000" y="1854200"/>
            <a:ext cx="871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pip install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197600" y="2230120"/>
            <a:ext cx="5130800" cy="358140"/>
          </a:xfrm>
          <a:prstGeom prst="roundRect">
            <a:avLst>
              <a:gd name="adj" fmla="val 14184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2"/>
          <p:cNvSpPr/>
          <p:nvPr/>
        </p:nvSpPr>
        <p:spPr>
          <a:xfrm>
            <a:off x="6324600" y="2293620"/>
            <a:ext cx="502310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97600" y="2664461"/>
            <a:ext cx="5130800" cy="358140"/>
          </a:xfrm>
          <a:prstGeom prst="roundRect">
            <a:avLst>
              <a:gd name="adj" fmla="val 14184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4"/>
          <p:cNvSpPr/>
          <p:nvPr/>
        </p:nvSpPr>
        <p:spPr>
          <a:xfrm>
            <a:off x="6324600" y="2727961"/>
            <a:ext cx="502310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langchain-nvidia-ai-endpoints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197600" y="3098800"/>
            <a:ext cx="5130800" cy="358140"/>
          </a:xfrm>
          <a:prstGeom prst="roundRect">
            <a:avLst>
              <a:gd name="adj" fmla="val 14184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6"/>
          <p:cNvSpPr/>
          <p:nvPr/>
        </p:nvSpPr>
        <p:spPr>
          <a:xfrm>
            <a:off x="6324600" y="3162300"/>
            <a:ext cx="502310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langchain-groq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197600" y="3533141"/>
            <a:ext cx="5130800" cy="358140"/>
          </a:xfrm>
          <a:prstGeom prst="roundRect">
            <a:avLst>
              <a:gd name="adj" fmla="val 14184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8"/>
          <p:cNvSpPr/>
          <p:nvPr/>
        </p:nvSpPr>
        <p:spPr>
          <a:xfrm>
            <a:off x="6324600" y="3596641"/>
            <a:ext cx="502310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langchain-pinecone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197600" y="3967480"/>
            <a:ext cx="5130800" cy="358140"/>
          </a:xfrm>
          <a:prstGeom prst="roundRect">
            <a:avLst>
              <a:gd name="adj" fmla="val 14184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0"/>
          <p:cNvSpPr/>
          <p:nvPr/>
        </p:nvSpPr>
        <p:spPr>
          <a:xfrm>
            <a:off x="6324600" y="4030980"/>
            <a:ext cx="502310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197600" y="4401820"/>
            <a:ext cx="5130800" cy="358140"/>
          </a:xfrm>
          <a:prstGeom prst="roundRect">
            <a:avLst>
              <a:gd name="adj" fmla="val 14184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2"/>
          <p:cNvSpPr/>
          <p:nvPr/>
        </p:nvSpPr>
        <p:spPr>
          <a:xfrm>
            <a:off x="6324600" y="4465320"/>
            <a:ext cx="502310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pypdf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35000" y="6294121"/>
            <a:ext cx="589121" cy="154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200" b="1" kern="0" spc="-25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console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35000" y="6423661"/>
            <a:ext cx="589121" cy="154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200" b="1" kern="0" spc="-25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flare.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1224121" y="6322061"/>
            <a:ext cx="6350" cy="2032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6"/>
          <p:cNvSpPr/>
          <p:nvPr/>
        </p:nvSpPr>
        <p:spPr>
          <a:xfrm>
            <a:off x="1281271" y="6316982"/>
            <a:ext cx="22370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Module 15 - Agentic AI Series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11343640" y="6278882"/>
            <a:ext cx="26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50000">
                <a:srgbClr val="14B8A6"/>
              </a:gs>
              <a:gs pos="100000">
                <a:srgbClr val="0D9488"/>
              </a:gs>
            </a:gsLst>
            <a:lin ang="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635000" y="772161"/>
            <a:ext cx="355600" cy="355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D9488"/>
              </a:gs>
              <a:gs pos="100000">
                <a:srgbClr val="0F766E"/>
              </a:gs>
            </a:gsLst>
            <a:lin ang="3300000" scaled="0"/>
          </a:gra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59460" y="825500"/>
            <a:ext cx="15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7600" y="635000"/>
            <a:ext cx="44461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STEP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7600" y="873761"/>
            <a:ext cx="44461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Load + Chunk </a:t>
            </a:r>
            <a:r>
              <a:rPr lang="en-US" sz="28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Documents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38175" y="1522096"/>
            <a:ext cx="5353050" cy="3054350"/>
          </a:xfrm>
          <a:prstGeom prst="roundRect">
            <a:avLst>
              <a:gd name="adj" fmla="val 3222"/>
            </a:avLst>
          </a:prstGeom>
          <a:solidFill>
            <a:srgbClr val="FFFFFF"/>
          </a:solidFill>
          <a:ln w="6350">
            <a:solidFill>
              <a:srgbClr val="00B0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68680" y="1752600"/>
            <a:ext cx="279400" cy="279400"/>
          </a:xfrm>
          <a:prstGeom prst="roundRect">
            <a:avLst>
              <a:gd name="adj" fmla="val 27273"/>
            </a:avLst>
          </a:prstGeom>
          <a:gradFill rotWithShape="1">
            <a:gsLst>
              <a:gs pos="0">
                <a:srgbClr val="F0FDFA"/>
              </a:gs>
              <a:gs pos="100000">
                <a:srgbClr val="CCFBF1"/>
              </a:gs>
            </a:gsLst>
            <a:lin ang="3300000" scaled="0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9" name="Image 0" descr="Databa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9480" y="1803400"/>
            <a:ext cx="177800" cy="177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24280" y="1758950"/>
            <a:ext cx="100314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Load PDFs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68680" y="2159000"/>
            <a:ext cx="355600" cy="254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868680" y="2311400"/>
            <a:ext cx="50388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PyPDFLoader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2669539"/>
            <a:ext cx="5038801" cy="1148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Reads PDF files page by page</a:t>
            </a:r>
            <a:endParaRPr lang="en-US" sz="1300" dirty="0"/>
          </a:p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Extracts raw text content</a:t>
            </a:r>
            <a:endParaRPr lang="en-US" sz="1300" dirty="0"/>
          </a:p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Preserves page metadata</a:t>
            </a:r>
            <a:endParaRPr lang="en-US" sz="1300" dirty="0"/>
          </a:p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Returns list of Document objects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71855" y="3922396"/>
            <a:ext cx="4885690" cy="420370"/>
          </a:xfrm>
          <a:prstGeom prst="roundRect">
            <a:avLst>
              <a:gd name="adj" fmla="val 14350"/>
            </a:avLst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1000760" y="4025900"/>
            <a:ext cx="47667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from langchain.document_loaders import PyPDFLoader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00775" y="1522096"/>
            <a:ext cx="5353050" cy="3054350"/>
          </a:xfrm>
          <a:prstGeom prst="roundRect">
            <a:avLst>
              <a:gd name="adj" fmla="val 3222"/>
            </a:avLst>
          </a:prstGeom>
          <a:solidFill>
            <a:srgbClr val="FFFFFF"/>
          </a:solidFill>
          <a:ln w="6350">
            <a:solidFill>
              <a:srgbClr val="00B0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6431280" y="1752600"/>
            <a:ext cx="279400" cy="279400"/>
          </a:xfrm>
          <a:prstGeom prst="roundRect">
            <a:avLst>
              <a:gd name="adj" fmla="val 27273"/>
            </a:avLst>
          </a:prstGeom>
          <a:gradFill rotWithShape="1">
            <a:gsLst>
              <a:gs pos="0">
                <a:srgbClr val="F0FDFA"/>
              </a:gs>
              <a:gs pos="100000">
                <a:srgbClr val="CCFBF1"/>
              </a:gs>
            </a:gsLst>
            <a:lin ang="3300000" scaled="0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18" name="Image 1" descr="Cod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82080" y="1803400"/>
            <a:ext cx="177800" cy="1778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786880" y="1758950"/>
            <a:ext cx="105021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Chunk Text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431280" y="2159000"/>
            <a:ext cx="355600" cy="254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6431280" y="2311400"/>
            <a:ext cx="50388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RecursiveCharacterTextSplitter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431280" y="2669539"/>
            <a:ext cx="5038801" cy="1148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Splits text into smaller pieces</a:t>
            </a:r>
            <a:endParaRPr lang="en-US" sz="1300" dirty="0"/>
          </a:p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chunk_size = 1000 characters</a:t>
            </a:r>
            <a:endParaRPr lang="en-US" sz="1300" dirty="0"/>
          </a:p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chunk_overlap = 200 characters</a:t>
            </a:r>
            <a:endParaRPr lang="en-US" sz="1300" dirty="0"/>
          </a:p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Maintains context across chunks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434455" y="3922396"/>
            <a:ext cx="4885690" cy="420370"/>
          </a:xfrm>
          <a:prstGeom prst="roundRect">
            <a:avLst>
              <a:gd name="adj" fmla="val 14350"/>
            </a:avLst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6563360" y="4025900"/>
            <a:ext cx="47667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from langchain.text_splitter import RecursiveCharacterTextSplitter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35000" y="6294121"/>
            <a:ext cx="589121" cy="154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200" b="1" kern="0" spc="-25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console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35000" y="6423661"/>
            <a:ext cx="589121" cy="154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200" b="1" kern="0" spc="-25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flare.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1224121" y="6322061"/>
            <a:ext cx="6350" cy="2032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1281271" y="6316982"/>
            <a:ext cx="22370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Module 15 - Agentic AI Series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11343640" y="6278882"/>
            <a:ext cx="26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50000">
                <a:srgbClr val="14B8A6"/>
              </a:gs>
              <a:gs pos="100000">
                <a:srgbClr val="0D9488"/>
              </a:gs>
            </a:gsLst>
            <a:lin ang="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635000" y="772161"/>
            <a:ext cx="355600" cy="355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D9488"/>
              </a:gs>
              <a:gs pos="100000">
                <a:srgbClr val="0F766E"/>
              </a:gs>
            </a:gsLst>
            <a:lin ang="3300000" scaled="0"/>
          </a:gra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59460" y="825500"/>
            <a:ext cx="15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7600" y="635000"/>
            <a:ext cx="25617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STEP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7600" y="873761"/>
            <a:ext cx="25617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Embed + </a:t>
            </a:r>
            <a:r>
              <a:rPr lang="en-US" sz="28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Store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38175" y="1522096"/>
            <a:ext cx="5353050" cy="3054350"/>
          </a:xfrm>
          <a:prstGeom prst="roundRect">
            <a:avLst>
              <a:gd name="adj" fmla="val 3222"/>
            </a:avLst>
          </a:prstGeom>
          <a:solidFill>
            <a:srgbClr val="FFFFFF"/>
          </a:solidFill>
          <a:ln w="6350">
            <a:solidFill>
              <a:srgbClr val="00B0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68680" y="1752600"/>
            <a:ext cx="279400" cy="279400"/>
          </a:xfrm>
          <a:prstGeom prst="roundRect">
            <a:avLst>
              <a:gd name="adj" fmla="val 27273"/>
            </a:avLst>
          </a:prstGeom>
          <a:gradFill rotWithShape="1">
            <a:gsLst>
              <a:gs pos="0">
                <a:srgbClr val="F0FDFA"/>
              </a:gs>
              <a:gs pos="100000">
                <a:srgbClr val="CCFBF1"/>
              </a:gs>
            </a:gsLst>
            <a:lin ang="3300000" scaled="0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9" name="Image 0" descr="Light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9480" y="1803400"/>
            <a:ext cx="177800" cy="177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24280" y="1758950"/>
            <a:ext cx="17838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Create Embeddings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68680" y="2159000"/>
            <a:ext cx="355600" cy="254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868680" y="2311400"/>
            <a:ext cx="50388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NVIDIA nemotron-3-embed-1b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2669539"/>
            <a:ext cx="5038801" cy="1148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Converts text to number vectors</a:t>
            </a:r>
            <a:endParaRPr lang="en-US" sz="1300" dirty="0"/>
          </a:p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Captures semantic meaning</a:t>
            </a:r>
            <a:endParaRPr lang="en-US" sz="1300" dirty="0"/>
          </a:p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Free NVIDIA API tier</a:t>
            </a:r>
            <a:endParaRPr lang="en-US" sz="1300" dirty="0"/>
          </a:p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High-quality embeddings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71855" y="3922396"/>
            <a:ext cx="4885690" cy="420370"/>
          </a:xfrm>
          <a:prstGeom prst="roundRect">
            <a:avLst>
              <a:gd name="adj" fmla="val 14350"/>
            </a:avLst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1000760" y="4025900"/>
            <a:ext cx="47667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from langchain_nvidia_ai_endpoints import NVIDIAEmbeddings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00775" y="1531427"/>
            <a:ext cx="5353050" cy="3054350"/>
          </a:xfrm>
          <a:prstGeom prst="roundRect">
            <a:avLst>
              <a:gd name="adj" fmla="val 3222"/>
            </a:avLst>
          </a:prstGeom>
          <a:solidFill>
            <a:srgbClr val="FFFFFF"/>
          </a:solidFill>
          <a:ln w="6350">
            <a:solidFill>
              <a:srgbClr val="00B0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6431280" y="1752600"/>
            <a:ext cx="279400" cy="279400"/>
          </a:xfrm>
          <a:prstGeom prst="roundRect">
            <a:avLst>
              <a:gd name="adj" fmla="val 27273"/>
            </a:avLst>
          </a:prstGeom>
          <a:gradFill rotWithShape="1">
            <a:gsLst>
              <a:gs pos="0">
                <a:srgbClr val="F0FDFA"/>
              </a:gs>
              <a:gs pos="100000">
                <a:srgbClr val="CCFBF1"/>
              </a:gs>
            </a:gsLst>
            <a:lin ang="3300000" scaled="0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18" name="Image 1" descr="Cloud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82080" y="1803400"/>
            <a:ext cx="177800" cy="1778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786880" y="1758950"/>
            <a:ext cx="115379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Vector Store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431280" y="2159000"/>
            <a:ext cx="355600" cy="254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6431280" y="2311400"/>
            <a:ext cx="50388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Pinecone (Cloud)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431280" y="2669539"/>
            <a:ext cx="5038801" cy="1148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Managed vector database</a:t>
            </a:r>
            <a:endParaRPr lang="en-US" sz="1300" dirty="0"/>
          </a:p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Cloud-hosted vector database</a:t>
            </a:r>
            <a:endParaRPr lang="en-US" sz="1300" dirty="0"/>
          </a:p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Serverless - no infra to manage</a:t>
            </a:r>
            <a:endParaRPr lang="en-US" sz="1300" dirty="0"/>
          </a:p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Fast similarity search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434455" y="3922396"/>
            <a:ext cx="4885690" cy="420370"/>
          </a:xfrm>
          <a:prstGeom prst="roundRect">
            <a:avLst>
              <a:gd name="adj" fmla="val 14350"/>
            </a:avLst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6563360" y="4025900"/>
            <a:ext cx="47667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from langchain_pinecone import PineconeVectorStore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35000" y="6294121"/>
            <a:ext cx="589121" cy="154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200" b="1" kern="0" spc="-25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console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35000" y="6423661"/>
            <a:ext cx="589121" cy="154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200" b="1" kern="0" spc="-25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flare.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1224121" y="6322061"/>
            <a:ext cx="6350" cy="2032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1281271" y="6316982"/>
            <a:ext cx="22370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Module 15 - Agentic AI Series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11343640" y="6278882"/>
            <a:ext cx="26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50000">
                <a:srgbClr val="14B8A6"/>
              </a:gs>
              <a:gs pos="100000">
                <a:srgbClr val="0D9488"/>
              </a:gs>
            </a:gsLst>
            <a:lin ang="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635000" y="772161"/>
            <a:ext cx="355600" cy="355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D9488"/>
              </a:gs>
              <a:gs pos="100000">
                <a:srgbClr val="0F766E"/>
              </a:gs>
            </a:gsLst>
            <a:lin ang="3300000" scaled="0"/>
          </a:gra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59460" y="825500"/>
            <a:ext cx="15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7600" y="635000"/>
            <a:ext cx="34529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STEP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7600" y="873761"/>
            <a:ext cx="3452975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Retrieve + </a:t>
            </a:r>
            <a:r>
              <a:rPr lang="en-US" sz="28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Generate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38175" y="1522096"/>
            <a:ext cx="5347970" cy="3064510"/>
          </a:xfrm>
          <a:prstGeom prst="roundRect">
            <a:avLst>
              <a:gd name="adj" fmla="val 32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68680" y="1752600"/>
            <a:ext cx="279400" cy="279400"/>
          </a:xfrm>
          <a:prstGeom prst="roundRect">
            <a:avLst>
              <a:gd name="adj" fmla="val 27273"/>
            </a:avLst>
          </a:prstGeom>
          <a:gradFill rotWithShape="1">
            <a:gsLst>
              <a:gs pos="0">
                <a:srgbClr val="F0FDFA"/>
              </a:gs>
              <a:gs pos="100000">
                <a:srgbClr val="CCFBF1"/>
              </a:gs>
            </a:gsLst>
            <a:lin ang="3300000" scaled="0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9" name="Image 0" descr="Search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9480" y="1803400"/>
            <a:ext cx="177800" cy="177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24280" y="1758950"/>
            <a:ext cx="15290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Retrieve Context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68680" y="2159000"/>
            <a:ext cx="355600" cy="254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868680" y="2311400"/>
            <a:ext cx="503356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Similarity Search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2669539"/>
            <a:ext cx="5033569" cy="1148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Query gets embedded into a vector</a:t>
            </a:r>
            <a:endParaRPr lang="en-US" sz="1300" dirty="0"/>
          </a:p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Finds most similar chunks (Top-K)</a:t>
            </a:r>
            <a:endParaRPr lang="en-US" sz="1300" dirty="0"/>
          </a:p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Returns relevant document pieces</a:t>
            </a:r>
            <a:endParaRPr lang="en-US" sz="1300" dirty="0"/>
          </a:p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Context ready for the LLM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71855" y="3922396"/>
            <a:ext cx="4880610" cy="420370"/>
          </a:xfrm>
          <a:prstGeom prst="roundRect">
            <a:avLst>
              <a:gd name="adj" fmla="val 14350"/>
            </a:avLst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1000760" y="4025900"/>
            <a:ext cx="47614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vectorstore.similarity_search(query, k=3)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98870" y="1525271"/>
            <a:ext cx="5351780" cy="3058160"/>
          </a:xfrm>
          <a:prstGeom prst="roundRect">
            <a:avLst>
              <a:gd name="adj" fmla="val 31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6431280" y="1757682"/>
            <a:ext cx="279400" cy="279400"/>
          </a:xfrm>
          <a:prstGeom prst="roundRect">
            <a:avLst>
              <a:gd name="adj" fmla="val 27273"/>
            </a:avLst>
          </a:prstGeom>
          <a:gradFill rotWithShape="1">
            <a:gsLst>
              <a:gs pos="0">
                <a:srgbClr val="0D9488"/>
              </a:gs>
              <a:gs pos="100000">
                <a:srgbClr val="0F766E"/>
              </a:gs>
            </a:gsLst>
            <a:lin ang="3300000" scaled="0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18" name="Image 1" descr="Cha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82080" y="1808482"/>
            <a:ext cx="177800" cy="1778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786880" y="1764032"/>
            <a:ext cx="159654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Generate Answer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431280" y="2164082"/>
            <a:ext cx="355600" cy="254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6431280" y="2316482"/>
            <a:ext cx="503356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 err="1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Groq</a:t>
            </a:r>
            <a:r>
              <a:rPr lang="en-US" sz="13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- qwen/qwen3.8-27b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431280" y="2674621"/>
            <a:ext cx="5033569" cy="1148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Context + Question → Prompt</a:t>
            </a:r>
            <a:endParaRPr lang="en-US" sz="1300" dirty="0"/>
          </a:p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LLM generates grounded answer</a:t>
            </a:r>
            <a:endParaRPr lang="en-US" sz="1300" dirty="0"/>
          </a:p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Ultra-fast inference via Groq</a:t>
            </a:r>
            <a:endParaRPr lang="en-US" sz="1300" dirty="0"/>
          </a:p>
          <a:p>
            <a:pPr marL="342900" indent="-342900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Accurate, with citations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434455" y="3927475"/>
            <a:ext cx="4880610" cy="420370"/>
          </a:xfrm>
          <a:prstGeom prst="roundRect">
            <a:avLst>
              <a:gd name="adj" fmla="val 14350"/>
            </a:avLst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6563360" y="4030982"/>
            <a:ext cx="47614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from langchain_groq import ChatGroq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35000" y="6294121"/>
            <a:ext cx="589121" cy="154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200" b="1" kern="0" spc="-25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console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35000" y="6423661"/>
            <a:ext cx="589121" cy="154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200" b="1" kern="0" spc="-25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flare.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1224121" y="6322061"/>
            <a:ext cx="6350" cy="2032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1281271" y="6316982"/>
            <a:ext cx="22370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Module 15 - Agentic AI Series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11343640" y="6278882"/>
            <a:ext cx="26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50000">
                <a:srgbClr val="14B8A6"/>
              </a:gs>
              <a:gs pos="100000">
                <a:srgbClr val="0D9488"/>
              </a:gs>
            </a:gsLst>
            <a:lin ang="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35000" y="635000"/>
            <a:ext cx="112496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FRONTEND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5000" y="924561"/>
            <a:ext cx="1124966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Streamlit </a:t>
            </a:r>
            <a:r>
              <a:rPr lang="en-US" sz="32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38175" y="1628775"/>
            <a:ext cx="6267450" cy="847090"/>
          </a:xfrm>
          <a:prstGeom prst="roundRect">
            <a:avLst>
              <a:gd name="adj" fmla="val 11619"/>
            </a:avLst>
          </a:prstGeom>
          <a:solidFill>
            <a:srgbClr val="FFFFFF"/>
          </a:solidFill>
          <a:ln w="6350">
            <a:solidFill>
              <a:srgbClr val="00B0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43280" y="1899921"/>
            <a:ext cx="304800" cy="304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0FDFA"/>
              </a:gs>
              <a:gs pos="100000">
                <a:srgbClr val="CCFBF1"/>
              </a:gs>
            </a:gsLst>
            <a:lin ang="3300000" scaled="0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Clou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6780" y="1963421"/>
            <a:ext cx="177800" cy="177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49680" y="1808482"/>
            <a:ext cx="2705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File Upload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49680" y="2082800"/>
            <a:ext cx="27058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 err="1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st.file_uploader</a:t>
            </a:r>
            <a:r>
              <a:rPr lang="en-US" sz="1200" dirty="0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- PDF upload widget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8175" y="2609214"/>
            <a:ext cx="6267450" cy="847090"/>
          </a:xfrm>
          <a:prstGeom prst="roundRect">
            <a:avLst>
              <a:gd name="adj" fmla="val 11619"/>
            </a:avLst>
          </a:prstGeom>
          <a:solidFill>
            <a:srgbClr val="FFFFFF"/>
          </a:solidFill>
          <a:ln w="6350">
            <a:solidFill>
              <a:srgbClr val="00B0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843280" y="2880361"/>
            <a:ext cx="304800" cy="304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0FDFA"/>
              </a:gs>
              <a:gs pos="100000">
                <a:srgbClr val="CCFBF1"/>
              </a:gs>
            </a:gsLst>
            <a:lin ang="3300000" scaled="0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Cha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6780" y="2943861"/>
            <a:ext cx="177800" cy="177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49680" y="2788921"/>
            <a:ext cx="22711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Chat Interface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249680" y="3063239"/>
            <a:ext cx="227110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st.chat_input + st.chat_message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8175" y="3589657"/>
            <a:ext cx="6267450" cy="847090"/>
          </a:xfrm>
          <a:prstGeom prst="roundRect">
            <a:avLst>
              <a:gd name="adj" fmla="val 11619"/>
            </a:avLst>
          </a:prstGeom>
          <a:solidFill>
            <a:srgbClr val="FFFFFF"/>
          </a:solidFill>
          <a:ln w="6350">
            <a:solidFill>
              <a:srgbClr val="00B0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843280" y="3860800"/>
            <a:ext cx="304800" cy="304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0FDFA"/>
              </a:gs>
              <a:gs pos="100000">
                <a:srgbClr val="CCFBF1"/>
              </a:gs>
            </a:gsLst>
            <a:lin ang="3300000" scaled="0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17" name="Image 2" descr="Lightni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06780" y="3924300"/>
            <a:ext cx="177800" cy="177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49680" y="3769361"/>
            <a:ext cx="30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Session State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249680" y="4043679"/>
            <a:ext cx="30463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 err="1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st.session_state</a:t>
            </a:r>
            <a:r>
              <a:rPr lang="en-US" sz="1200" dirty="0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- chat history persistence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8175" y="4570096"/>
            <a:ext cx="6267450" cy="847090"/>
          </a:xfrm>
          <a:prstGeom prst="roundRect">
            <a:avLst>
              <a:gd name="adj" fmla="val 11619"/>
            </a:avLst>
          </a:prstGeom>
          <a:solidFill>
            <a:srgbClr val="FFFFFF"/>
          </a:solidFill>
          <a:ln w="6350">
            <a:solidFill>
              <a:srgbClr val="00B0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843280" y="4841242"/>
            <a:ext cx="304800" cy="304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0FDFA"/>
              </a:gs>
              <a:gs pos="100000">
                <a:srgbClr val="CCFBF1"/>
              </a:gs>
            </a:gsLst>
            <a:lin ang="3300000" scaled="0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22" name="Image 3" descr="Verified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6780" y="4904742"/>
            <a:ext cx="177800" cy="1778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49680" y="4749800"/>
            <a:ext cx="2291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Response Display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249680" y="5024121"/>
            <a:ext cx="22910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answers with source citations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7118350" y="1631950"/>
            <a:ext cx="4432300" cy="3782060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0"/>
          <p:cNvSpPr/>
          <p:nvPr/>
        </p:nvSpPr>
        <p:spPr>
          <a:xfrm>
            <a:off x="7122160" y="1635761"/>
            <a:ext cx="4424680" cy="416560"/>
          </a:xfrm>
          <a:prstGeom prst="roundRect">
            <a:avLst>
              <a:gd name="adj" fmla="val 21341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1"/>
          <p:cNvSpPr/>
          <p:nvPr/>
        </p:nvSpPr>
        <p:spPr>
          <a:xfrm>
            <a:off x="7274560" y="1805939"/>
            <a:ext cx="762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2"/>
          <p:cNvSpPr/>
          <p:nvPr/>
        </p:nvSpPr>
        <p:spPr>
          <a:xfrm>
            <a:off x="7414260" y="1805939"/>
            <a:ext cx="76200" cy="76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3"/>
          <p:cNvSpPr/>
          <p:nvPr/>
        </p:nvSpPr>
        <p:spPr>
          <a:xfrm>
            <a:off x="7553960" y="1805939"/>
            <a:ext cx="76200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4"/>
          <p:cNvSpPr/>
          <p:nvPr/>
        </p:nvSpPr>
        <p:spPr>
          <a:xfrm>
            <a:off x="7769860" y="1737361"/>
            <a:ext cx="10864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localhost:8501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7325360" y="2255521"/>
            <a:ext cx="413882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Enterprise Knowledge Assistant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7331710" y="2673350"/>
            <a:ext cx="4005580" cy="474980"/>
          </a:xfrm>
          <a:prstGeom prst="roundRect">
            <a:avLst>
              <a:gd name="adj" fmla="val 12032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3" name="Text 27"/>
          <p:cNvSpPr/>
          <p:nvPr/>
        </p:nvSpPr>
        <p:spPr>
          <a:xfrm>
            <a:off x="8373666" y="2804161"/>
            <a:ext cx="19792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Upload your PDF document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7325360" y="3281682"/>
            <a:ext cx="4018280" cy="416560"/>
          </a:xfrm>
          <a:prstGeom prst="roundRect">
            <a:avLst>
              <a:gd name="adj" fmla="val 15244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29"/>
          <p:cNvSpPr/>
          <p:nvPr/>
        </p:nvSpPr>
        <p:spPr>
          <a:xfrm>
            <a:off x="7452360" y="3383282"/>
            <a:ext cx="38772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Ask a question about your document...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7325360" y="3825239"/>
            <a:ext cx="228600" cy="228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D9488"/>
              </a:gs>
              <a:gs pos="100000">
                <a:srgbClr val="0F766E"/>
              </a:gs>
            </a:gsLst>
            <a:lin ang="330000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7" name="Text 31"/>
          <p:cNvSpPr/>
          <p:nvPr/>
        </p:nvSpPr>
        <p:spPr>
          <a:xfrm>
            <a:off x="7382907" y="3832861"/>
            <a:ext cx="1642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7630160" y="3825239"/>
            <a:ext cx="3713480" cy="416560"/>
          </a:xfrm>
          <a:prstGeom prst="roundRect">
            <a:avLst>
              <a:gd name="adj" fmla="val 15244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3"/>
          <p:cNvSpPr/>
          <p:nvPr/>
        </p:nvSpPr>
        <p:spPr>
          <a:xfrm>
            <a:off x="7757160" y="3926839"/>
            <a:ext cx="35632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Based on the document, the answer is...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635000" y="6294121"/>
            <a:ext cx="589121" cy="154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200" b="1" kern="0" spc="-25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console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635000" y="6423664"/>
            <a:ext cx="589121" cy="154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200" b="1" kern="0" spc="-25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flare.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1224121" y="6322064"/>
            <a:ext cx="6350" cy="2032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37"/>
          <p:cNvSpPr/>
          <p:nvPr/>
        </p:nvSpPr>
        <p:spPr>
          <a:xfrm>
            <a:off x="1281271" y="6316979"/>
            <a:ext cx="22370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Module 15 - Agentic AI Series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11343640" y="6278879"/>
            <a:ext cx="26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50000">
                <a:srgbClr val="14B8A6"/>
              </a:gs>
              <a:gs pos="100000">
                <a:srgbClr val="0D9488"/>
              </a:gs>
            </a:gsLst>
            <a:lin ang="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8662" y="19367"/>
            <a:ext cx="12192000" cy="6858000"/>
          </a:xfrm>
          <a:prstGeom prst="rect">
            <a:avLst/>
          </a:prstGeom>
          <a:gradFill rotWithShape="1">
            <a:gsLst>
              <a:gs pos="0">
                <a:srgbClr val="0D9488">
                  <a:alpha val="8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470366" y="1711325"/>
            <a:ext cx="1251268" cy="318770"/>
          </a:xfrm>
          <a:prstGeom prst="roundRect">
            <a:avLst>
              <a:gd name="adj" fmla="val 18924"/>
            </a:avLst>
          </a:prstGeom>
          <a:solidFill>
            <a:srgbClr val="0D9488">
              <a:alpha val="15000"/>
            </a:srgbClr>
          </a:solidFill>
          <a:ln w="635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24671" y="1764029"/>
            <a:ext cx="9934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14127" y="2134871"/>
            <a:ext cx="4963667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Enterprise Knowledge</a:t>
            </a:r>
            <a:endParaRPr lang="en-US" sz="3600" dirty="0"/>
          </a:p>
          <a:p>
            <a:pPr marL="0" indent="0" algn="ctr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Assistant</a:t>
            </a:r>
            <a:r>
              <a:rPr lang="en-US" sz="3600" b="1" dirty="0">
                <a:solidFill>
                  <a:srgbClr val="F8FAF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in Action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50453" y="3242314"/>
            <a:ext cx="669109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Upload any PDF - ask questions - get AI-powered answers with citations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62773" y="3816989"/>
            <a:ext cx="1653143" cy="539750"/>
          </a:xfrm>
          <a:prstGeom prst="roundRect">
            <a:avLst>
              <a:gd name="adj" fmla="val 15882"/>
            </a:avLst>
          </a:prstGeom>
          <a:solidFill>
            <a:srgbClr val="0D9488">
              <a:alpha val="10000"/>
            </a:srgbClr>
          </a:solidFill>
          <a:ln w="635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0" descr="Databa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93277" y="3985264"/>
            <a:ext cx="203200" cy="203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372677" y="3971292"/>
            <a:ext cx="96353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Upload PDF</a:t>
            </a:r>
            <a:endParaRPr lang="en-US" sz="1300" dirty="0"/>
          </a:p>
        </p:txBody>
      </p:sp>
      <p:pic>
        <p:nvPicPr>
          <p:cNvPr id="11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71491" y="3813814"/>
            <a:ext cx="254000" cy="1524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081066" y="3816989"/>
            <a:ext cx="1747679" cy="539750"/>
          </a:xfrm>
          <a:prstGeom prst="roundRect">
            <a:avLst>
              <a:gd name="adj" fmla="val 15882"/>
            </a:avLst>
          </a:prstGeom>
          <a:solidFill>
            <a:srgbClr val="0D9488">
              <a:alpha val="10000"/>
            </a:srgbClr>
          </a:solidFill>
          <a:ln w="635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2" descr="Search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11571" y="3985264"/>
            <a:ext cx="203200" cy="203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90971" y="3971292"/>
            <a:ext cx="105806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Ask Question</a:t>
            </a:r>
            <a:endParaRPr lang="en-US" sz="1300" dirty="0"/>
          </a:p>
        </p:txBody>
      </p:sp>
      <p:pic>
        <p:nvPicPr>
          <p:cNvPr id="15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84320" y="3813814"/>
            <a:ext cx="254000" cy="1524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93895" y="3816989"/>
            <a:ext cx="1834277" cy="539750"/>
          </a:xfrm>
          <a:prstGeom prst="roundRect">
            <a:avLst>
              <a:gd name="adj" fmla="val 15882"/>
            </a:avLst>
          </a:prstGeom>
          <a:solidFill>
            <a:srgbClr val="0D9488">
              <a:alpha val="10000"/>
            </a:srgbClr>
          </a:solidFill>
          <a:ln w="635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4" descr="Lightni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24400" y="3985264"/>
            <a:ext cx="203200" cy="203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03800" y="3971292"/>
            <a:ext cx="114466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RAG Retrieves</a:t>
            </a:r>
            <a:endParaRPr lang="en-US" sz="1300" dirty="0"/>
          </a:p>
        </p:txBody>
      </p:sp>
      <p:pic>
        <p:nvPicPr>
          <p:cNvPr id="19" name="Image 5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3746" y="3813814"/>
            <a:ext cx="254000" cy="1524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790146" y="3813814"/>
            <a:ext cx="1542177" cy="546100"/>
          </a:xfrm>
          <a:prstGeom prst="roundRect">
            <a:avLst>
              <a:gd name="adj" fmla="val 16279"/>
            </a:avLst>
          </a:prstGeom>
          <a:gradFill rotWithShape="1">
            <a:gsLst>
              <a:gs pos="0">
                <a:srgbClr val="0D9488"/>
              </a:gs>
              <a:gs pos="100000">
                <a:srgbClr val="0F766E"/>
              </a:gs>
            </a:gsLst>
            <a:lin ang="3300000" scaled="0"/>
          </a:gradFill>
          <a:ln/>
          <a:effectLst>
            <a:outerShdw blurRad="127000" dist="25400" dir="5400000" algn="bl" rotWithShape="0">
              <a:srgbClr val="0D9488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6" descr="Chat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018746" y="3985264"/>
            <a:ext cx="203200" cy="2032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298146" y="3971292"/>
            <a:ext cx="85637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Answer</a:t>
            </a:r>
            <a:endParaRPr lang="en-US" sz="1300" dirty="0"/>
          </a:p>
        </p:txBody>
      </p:sp>
      <p:pic>
        <p:nvPicPr>
          <p:cNvPr id="23" name="Image 7" descr="Verified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399552" y="4691379"/>
            <a:ext cx="177800" cy="1778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640852" y="4664714"/>
            <a:ext cx="142136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94A3B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Accurate Answers</a:t>
            </a:r>
            <a:endParaRPr lang="en-US" sz="1300" dirty="0"/>
          </a:p>
        </p:txBody>
      </p:sp>
      <p:pic>
        <p:nvPicPr>
          <p:cNvPr id="25" name="Image 8" descr="Verified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316220" y="4691379"/>
            <a:ext cx="177800" cy="17780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557520" y="4664714"/>
            <a:ext cx="127801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94A3B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Source Citations</a:t>
            </a:r>
            <a:endParaRPr lang="en-US" sz="1300" dirty="0"/>
          </a:p>
        </p:txBody>
      </p:sp>
      <p:pic>
        <p:nvPicPr>
          <p:cNvPr id="27" name="Image 9" descr="Verified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089537" y="4691379"/>
            <a:ext cx="177800" cy="17780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7330837" y="4664714"/>
            <a:ext cx="151241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94A3B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Zero Hallucinations</a:t>
            </a:r>
            <a:endParaRPr lang="en-US" sz="1300" dirty="0"/>
          </a:p>
        </p:txBody>
      </p:sp>
      <p:sp>
        <p:nvSpPr>
          <p:cNvPr id="29" name="Text 17"/>
          <p:cNvSpPr/>
          <p:nvPr/>
        </p:nvSpPr>
        <p:spPr>
          <a:xfrm>
            <a:off x="635000" y="6294121"/>
            <a:ext cx="589121" cy="154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200" b="1" kern="0" spc="-25" dirty="0">
                <a:solidFill>
                  <a:srgbClr val="F8FAF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console</a:t>
            </a:r>
            <a:endParaRPr lang="en-US" sz="1200" dirty="0"/>
          </a:p>
        </p:txBody>
      </p:sp>
      <p:sp>
        <p:nvSpPr>
          <p:cNvPr id="30" name="Text 18"/>
          <p:cNvSpPr/>
          <p:nvPr/>
        </p:nvSpPr>
        <p:spPr>
          <a:xfrm>
            <a:off x="635000" y="6423664"/>
            <a:ext cx="589121" cy="154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200" b="1" kern="0" spc="-25" dirty="0">
                <a:solidFill>
                  <a:srgbClr val="F8FAF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flare.</a:t>
            </a:r>
            <a:endParaRPr lang="en-US" sz="1200" dirty="0"/>
          </a:p>
        </p:txBody>
      </p:sp>
      <p:sp>
        <p:nvSpPr>
          <p:cNvPr id="31" name="Shape 19"/>
          <p:cNvSpPr/>
          <p:nvPr/>
        </p:nvSpPr>
        <p:spPr>
          <a:xfrm>
            <a:off x="1224121" y="6322064"/>
            <a:ext cx="6350" cy="2032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0"/>
          <p:cNvSpPr/>
          <p:nvPr/>
        </p:nvSpPr>
        <p:spPr>
          <a:xfrm>
            <a:off x="1281271" y="6316979"/>
            <a:ext cx="22370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Module 15 - Agentic AI Series</a:t>
            </a:r>
            <a:endParaRPr lang="en-US" sz="1200" dirty="0"/>
          </a:p>
        </p:txBody>
      </p:sp>
      <p:sp>
        <p:nvSpPr>
          <p:cNvPr id="33" name="Text 21"/>
          <p:cNvSpPr/>
          <p:nvPr/>
        </p:nvSpPr>
        <p:spPr>
          <a:xfrm>
            <a:off x="11343640" y="6278879"/>
            <a:ext cx="26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50000">
                <a:srgbClr val="14B8A6"/>
              </a:gs>
              <a:gs pos="100000">
                <a:srgbClr val="0D9488"/>
              </a:gs>
            </a:gsLst>
            <a:lin ang="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35000" y="635000"/>
            <a:ext cx="64096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5000" y="924564"/>
            <a:ext cx="640969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What You </a:t>
            </a:r>
            <a:r>
              <a:rPr lang="en-US" sz="28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Learned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35000" y="1493521"/>
            <a:ext cx="254000" cy="2540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D9488"/>
              </a:gs>
              <a:gs pos="100000">
                <a:srgbClr val="0F766E"/>
              </a:gs>
            </a:gsLst>
            <a:lin ang="3300000" scaled="0"/>
          </a:gra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544321"/>
            <a:ext cx="152400" cy="1524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977900" y="1496064"/>
            <a:ext cx="26861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Load and chunk PDF documents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5000" y="1836421"/>
            <a:ext cx="254000" cy="2540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D9488"/>
              </a:gs>
              <a:gs pos="100000">
                <a:srgbClr val="0F766E"/>
              </a:gs>
            </a:gsLst>
            <a:lin ang="3300000" scaled="0"/>
          </a:gra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887221"/>
            <a:ext cx="152400" cy="1524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977900" y="1838964"/>
            <a:ext cx="3079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Create embeddings with NVIDIA API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35000" y="2179321"/>
            <a:ext cx="254000" cy="2540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D9488"/>
              </a:gs>
              <a:gs pos="100000">
                <a:srgbClr val="0F766E"/>
              </a:gs>
            </a:gsLst>
            <a:lin ang="3300000" scaled="0"/>
          </a:gra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2230121"/>
            <a:ext cx="152400" cy="1524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3" name="Text 8"/>
          <p:cNvSpPr/>
          <p:nvPr/>
        </p:nvSpPr>
        <p:spPr>
          <a:xfrm>
            <a:off x="977900" y="2181864"/>
            <a:ext cx="22648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Store vectors in Pinecone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35000" y="2522221"/>
            <a:ext cx="254000" cy="2540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D9488"/>
              </a:gs>
              <a:gs pos="100000">
                <a:srgbClr val="0F766E"/>
              </a:gs>
            </a:gsLst>
            <a:lin ang="3300000" scaled="0"/>
          </a:gra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" name="Image 3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2573021"/>
            <a:ext cx="152400" cy="1524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6" name="Text 10"/>
          <p:cNvSpPr/>
          <p:nvPr/>
        </p:nvSpPr>
        <p:spPr>
          <a:xfrm>
            <a:off x="977900" y="2524764"/>
            <a:ext cx="3184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Retrieve context with similarity search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35000" y="2865121"/>
            <a:ext cx="254000" cy="2540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D9488"/>
              </a:gs>
              <a:gs pos="100000">
                <a:srgbClr val="0F766E"/>
              </a:gs>
            </a:gsLst>
            <a:lin ang="3300000" scaled="0"/>
          </a:gra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4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2915921"/>
            <a:ext cx="152400" cy="1524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9" name="Text 12"/>
          <p:cNvSpPr/>
          <p:nvPr/>
        </p:nvSpPr>
        <p:spPr>
          <a:xfrm>
            <a:off x="977900" y="2867664"/>
            <a:ext cx="280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Generate answers with Groq LLM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635000" y="3208021"/>
            <a:ext cx="254000" cy="2540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D9488"/>
              </a:gs>
              <a:gs pos="100000">
                <a:srgbClr val="0F766E"/>
              </a:gs>
            </a:gsLst>
            <a:lin ang="3300000" scaled="0"/>
          </a:gra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5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3258821"/>
            <a:ext cx="152400" cy="1524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2" name="Text 14"/>
          <p:cNvSpPr/>
          <p:nvPr/>
        </p:nvSpPr>
        <p:spPr>
          <a:xfrm>
            <a:off x="977900" y="3210564"/>
            <a:ext cx="1890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Build Streamlit chat UI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7239000" y="635000"/>
            <a:ext cx="4318000" cy="2443480"/>
          </a:xfrm>
          <a:prstGeom prst="roundRect">
            <a:avLst>
              <a:gd name="adj" fmla="val 5198"/>
            </a:avLst>
          </a:prstGeom>
          <a:gradFill rotWithShape="1">
            <a:gsLst>
              <a:gs pos="0">
                <a:srgbClr val="0D9488"/>
              </a:gs>
              <a:gs pos="100000">
                <a:srgbClr val="0F766E"/>
              </a:gs>
            </a:gsLst>
            <a:lin ang="3300000" scaled="0"/>
          </a:gradFill>
          <a:ln/>
          <a:effectLst>
            <a:outerShdw blurRad="203200" dist="50800" dir="5400000" algn="bl" rotWithShape="0">
              <a:srgbClr val="0D9488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16"/>
          <p:cNvSpPr/>
          <p:nvPr/>
        </p:nvSpPr>
        <p:spPr>
          <a:xfrm>
            <a:off x="7543800" y="939800"/>
            <a:ext cx="381965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Complete RAG Pipeline</a:t>
            </a:r>
            <a:endParaRPr lang="en-US" sz="1800" dirty="0"/>
          </a:p>
        </p:txBody>
      </p:sp>
      <p:sp>
        <p:nvSpPr>
          <p:cNvPr id="25" name="Text 17"/>
          <p:cNvSpPr/>
          <p:nvPr/>
        </p:nvSpPr>
        <p:spPr>
          <a:xfrm>
            <a:off x="7543800" y="1412242"/>
            <a:ext cx="38196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CCFBF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From loading PDFs to generating AI-powered answers - you built the entire pipeline from scratch.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7543800" y="2364742"/>
            <a:ext cx="406400" cy="254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19"/>
          <p:cNvSpPr/>
          <p:nvPr/>
        </p:nvSpPr>
        <p:spPr>
          <a:xfrm>
            <a:off x="7543800" y="2542542"/>
            <a:ext cx="381965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Full source code in description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7242175" y="3234054"/>
            <a:ext cx="4311650" cy="1418590"/>
          </a:xfrm>
          <a:prstGeom prst="roundRect">
            <a:avLst>
              <a:gd name="adj" fmla="val 6938"/>
            </a:avLst>
          </a:prstGeom>
          <a:solidFill>
            <a:srgbClr val="FFFFFF"/>
          </a:solidFill>
          <a:ln w="6350">
            <a:solidFill>
              <a:srgbClr val="007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1"/>
          <p:cNvSpPr/>
          <p:nvPr/>
        </p:nvSpPr>
        <p:spPr>
          <a:xfrm>
            <a:off x="7447280" y="3439164"/>
            <a:ext cx="40184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7450455" y="3792854"/>
            <a:ext cx="927259" cy="318770"/>
          </a:xfrm>
          <a:prstGeom prst="roundRect">
            <a:avLst>
              <a:gd name="adj" fmla="val 14940"/>
            </a:avLst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3"/>
          <p:cNvSpPr/>
          <p:nvPr/>
        </p:nvSpPr>
        <p:spPr>
          <a:xfrm>
            <a:off x="7566660" y="3845559"/>
            <a:ext cx="7456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Subscribe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8447564" y="3792854"/>
            <a:ext cx="519747" cy="318770"/>
          </a:xfrm>
          <a:prstGeom prst="roundRect">
            <a:avLst>
              <a:gd name="adj" fmla="val 14940"/>
            </a:avLst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25"/>
          <p:cNvSpPr/>
          <p:nvPr/>
        </p:nvSpPr>
        <p:spPr>
          <a:xfrm>
            <a:off x="8563769" y="3845559"/>
            <a:ext cx="3381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Like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9037162" y="3792854"/>
            <a:ext cx="642223" cy="318770"/>
          </a:xfrm>
          <a:prstGeom prst="roundRect">
            <a:avLst>
              <a:gd name="adj" fmla="val 14940"/>
            </a:avLst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7"/>
          <p:cNvSpPr/>
          <p:nvPr/>
        </p:nvSpPr>
        <p:spPr>
          <a:xfrm>
            <a:off x="9153367" y="3845559"/>
            <a:ext cx="4606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Share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9749234" y="3792854"/>
            <a:ext cx="915988" cy="318770"/>
          </a:xfrm>
          <a:prstGeom prst="roundRect">
            <a:avLst>
              <a:gd name="adj" fmla="val 14940"/>
            </a:avLst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29"/>
          <p:cNvSpPr/>
          <p:nvPr/>
        </p:nvSpPr>
        <p:spPr>
          <a:xfrm>
            <a:off x="9865439" y="3845559"/>
            <a:ext cx="7343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Comment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7447280" y="4216400"/>
            <a:ext cx="401848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4393645" y="4960621"/>
            <a:ext cx="847169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800" b="1" kern="0" spc="-50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console</a:t>
            </a:r>
            <a:endParaRPr lang="en-US" sz="1800" dirty="0"/>
          </a:p>
        </p:txBody>
      </p:sp>
      <p:sp>
        <p:nvSpPr>
          <p:cNvPr id="40" name="Text 32"/>
          <p:cNvSpPr/>
          <p:nvPr/>
        </p:nvSpPr>
        <p:spPr>
          <a:xfrm>
            <a:off x="4393645" y="5154929"/>
            <a:ext cx="847169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800" b="1" kern="0" spc="-50" dirty="0">
                <a:solidFill>
                  <a:srgbClr val="0D1B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flare.</a:t>
            </a:r>
            <a:endParaRPr lang="en-US" sz="1800" dirty="0"/>
          </a:p>
        </p:txBody>
      </p:sp>
      <p:sp>
        <p:nvSpPr>
          <p:cNvPr id="41" name="Shape 33"/>
          <p:cNvSpPr/>
          <p:nvPr/>
        </p:nvSpPr>
        <p:spPr>
          <a:xfrm>
            <a:off x="5266214" y="5002529"/>
            <a:ext cx="6350" cy="3048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34"/>
          <p:cNvSpPr/>
          <p:nvPr/>
        </p:nvSpPr>
        <p:spPr>
          <a:xfrm>
            <a:off x="5348764" y="5048250"/>
            <a:ext cx="25229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Learn AI . Build Projects . Get Hired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11343640" y="6278879"/>
            <a:ext cx="26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722</Words>
  <Application>Microsoft Office PowerPoint</Application>
  <PresentationFormat>Widescreen</PresentationFormat>
  <Paragraphs>219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a RAG Pipeline from Scratch — Module 13</dc:title>
  <dc:subject>PptxGenJS Presentation</dc:subject>
  <dc:creator>PptxGenJS</dc:creator>
  <cp:lastModifiedBy>Aman Gaur</cp:lastModifiedBy>
  <cp:revision>12</cp:revision>
  <dcterms:created xsi:type="dcterms:W3CDTF">2026-09-20T14:53:53Z</dcterms:created>
  <dcterms:modified xsi:type="dcterms:W3CDTF">2026-09-22T11:43:24Z</dcterms:modified>
</cp:coreProperties>
</file>